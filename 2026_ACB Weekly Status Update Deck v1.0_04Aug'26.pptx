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7" r:id="rId5"/>
  </p:sldMasterIdLst>
  <p:notesMasterIdLst>
    <p:notesMasterId r:id="rId9"/>
  </p:notesMasterIdLst>
  <p:sldIdLst>
    <p:sldId id="2147483588" r:id="rId6"/>
    <p:sldId id="270" r:id="rId7"/>
    <p:sldId id="214748362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A64A11-C220-FE0A-B37A-03CF79DFF4C1}" name="RAWAT Vinay" initials="RV" userId="S::b455qp@login.axa::4a8729c2-56fc-4f7d-a7ee-e25d7762daae" providerId="AD"/>
  <p188:author id="{F78A2967-743D-F576-2CD5-65F9D6475C01}" name="MASRI AbdulRahman" initials="am" userId="S::B272YD@login.axa::2e345260-2200-4c08-a5f3-ad61880e7f05" providerId="AD"/>
  <p188:author id="{F3311575-03D3-D30A-A84A-2DD2EF74059D}" name="YEW Wei Fong" initials="wy" userId="S::Z588CQ@login.axa::be532651-943c-4621-9da2-44d2593eeb49" providerId="AD"/>
  <p188:author id="{99516DD4-AFB0-CD67-ED56-29B7587C8F3C}" name="RAWAT Vinay" initials="vr" userId="S::B455QP@login.axa::4a8729c2-56fc-4f7d-a7ee-e25d7762da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C2B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C7009-FE82-4A58-80C4-FA95C0C231E2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6F48C-9D7E-4513-A35F-24A6E561989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826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6F48C-9D7E-4513-A35F-24A6E561989D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41558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BF9C-2A05-9771-1A0D-DD3B5A51B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49E24-0E74-A1EB-8F2A-0F529B500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E94AA-9464-F626-D76F-3AC5F28A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EA92-9113-27E6-8CA0-B8B5C84F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B49A-5ED8-8493-6B52-810C9A50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43722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99A1-7239-6AA7-2CEA-6AC3C833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CF842-5F0F-95E0-97A2-9B211D98F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BBB29-45C0-9A2F-E05D-3BA1DA8F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2EEB-9170-21B4-5DB3-D43054B5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3A726-1A32-B4F9-DD62-00F5A4B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459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5745-7FB0-2AC9-218F-5F9CFC80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2CBC-CFB3-EBF6-C70B-9A3998137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0F0BA-3BDC-AFCC-9475-95FF788F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41BF-197B-81A9-6C6F-8224722D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84B9-0D47-C9FE-BA77-F0CB12C7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321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23CE-8708-C828-E000-9207BD5B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C7EF-A078-74CF-FE63-B85C1C85E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C322C-7886-5C96-2779-71A0803D3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770BC-4E06-CC31-B6B1-F60E6F9E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55C19-892A-30E5-63E6-B406529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CDFB3-ED97-BDD7-FFBA-D0790039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651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25F8-405D-E156-6380-7EF2EBD4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5B66-BFEE-B410-7C2F-86A92460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5909E-A81B-2755-FDF9-7FDF3224D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E68D9-B94D-3D5F-21BA-DB522FA10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524F0-0A5D-1375-94FA-68040D37E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96D00-9CE5-2BF7-3A9A-7124609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096B9-CA4B-80B4-B8BE-FDC69BA2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78CC1-521F-3D2D-7719-7BBAC79E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582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072E-0DFD-26DC-EC24-3CF14813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74372-91AE-596B-1BC4-60D25011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8887D-168E-FC19-7DD2-77A2C272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3A77-192A-89AC-3928-3E4896AE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5012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CF251-1DE3-DC28-E508-31320CC4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3A01B-2538-6F8D-35D9-E388EE22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C874A-221E-8EFA-3C0D-81C25FF3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7385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3D80-3308-57C5-BDA3-963C49B0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09D50-AC88-714B-1284-11C1EE2D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04461-A21F-DEDD-4C09-FECD0588F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E9F7-9527-7AFB-746C-C75B80EE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8FAC1-1E8F-4780-15B5-9A6288E0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1219F-1D3B-B233-1E9D-30A75EE4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803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6C61-083E-FC8A-E2B1-381EDE11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1DB6B-4A41-01BB-0BCC-452E1BD1E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47BA4-B932-30AB-48CF-00CE12165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0CB45-39AB-667A-3AAB-A5E04B9E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5E016-516B-4401-9DD7-8F0E81E9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4C01F-8430-DAFD-24B7-5B414B66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717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3664-0E12-56F8-03BD-EA4A7F14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92EED-C5A8-98C7-A7F3-C138DF5C0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6458-619B-668A-4D52-7A4FEAF1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3CD0D-3ECB-11C8-064A-11464996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8409-5CED-F184-61AF-A72D2C1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8822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9251-9499-8962-97DE-96D892807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A47D8-2EDB-E7C6-D95F-9F850A621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77C3F-BC21-BBB2-ADE6-E64CE24B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C8EE-24EC-7332-1AC2-C679EA47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C9DF-57C9-218C-9FA0-54310C93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6414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535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uverture_plein_colo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CCF7D7-3F26-F040-BEC7-8A216C97A07B}"/>
              </a:ext>
            </a:extLst>
          </p:cNvPr>
          <p:cNvSpPr/>
          <p:nvPr userDrawn="1"/>
        </p:nvSpPr>
        <p:spPr>
          <a:xfrm flipV="1">
            <a:off x="0" y="6477000"/>
            <a:ext cx="12192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63730-7770-8F90-70CC-ED87B02142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3642" y="2711561"/>
            <a:ext cx="9364717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ctr">
              <a:defRPr sz="4400" b="1" i="0" baseline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noProof="0"/>
              <a:t>Add the title of your slide on two lines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90E20F-EE33-A653-70F4-72FBED80A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3657" y="6555488"/>
            <a:ext cx="348343" cy="302512"/>
          </a:xfrm>
          <a:prstGeom prst="rect">
            <a:avLst/>
          </a:prstGeom>
        </p:spPr>
        <p:txBody>
          <a:bodyPr lIns="0" anchor="t"/>
          <a:lstStyle>
            <a:lvl1pPr algn="r">
              <a:defRPr sz="1100">
                <a:solidFill>
                  <a:srgbClr val="00008F"/>
                </a:solidFill>
              </a:defRPr>
            </a:lvl1pPr>
          </a:lstStyle>
          <a:p>
            <a:fld id="{6A9DB386-8FAF-DB45-A59B-3FA7E96456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5E616480-1B92-A6D6-30DB-8E73F1FBC2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marL="0" indent="0" algn="r">
              <a:buNone/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noProof="0"/>
              <a:t>Date : xx/xx/</a:t>
            </a:r>
            <a:r>
              <a:rPr lang="en-US" noProof="0" err="1"/>
              <a:t>xxxx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731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>
          <a:gsLst>
            <a:gs pos="0">
              <a:schemeClr val="accent1">
                <a:lumMod val="50000"/>
              </a:schemeClr>
            </a:gs>
            <a:gs pos="61000">
              <a:schemeClr val="tx2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BE69A-31F4-6BD4-17CA-DB1E47DB0A54}"/>
              </a:ext>
            </a:extLst>
          </p:cNvPr>
          <p:cNvSpPr txBox="1"/>
          <p:nvPr userDrawn="1"/>
        </p:nvSpPr>
        <p:spPr>
          <a:xfrm rot="10800000" flipV="1">
            <a:off x="11082958" y="6388826"/>
            <a:ext cx="423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40101"/>
                </a:solidFill>
                <a:latin typeface="Otama.ep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r"/>
            <a:fld id="{260E2A6B-A809-4840-BF14-8648BC0BDF87}" type="slidenum">
              <a:rPr lang="id-ID" sz="1000" smtClean="0">
                <a:solidFill>
                  <a:schemeClr val="bg1"/>
                </a:solidFill>
                <a:latin typeface="+mn-lt"/>
              </a:rPr>
              <a:pPr algn="r"/>
              <a:t>‹#›</a:t>
            </a:fld>
            <a:endParaRPr lang="id-ID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56163-6C4F-DF86-4A65-10425465A9B2}"/>
              </a:ext>
            </a:extLst>
          </p:cNvPr>
          <p:cNvSpPr txBox="1"/>
          <p:nvPr userDrawn="1"/>
        </p:nvSpPr>
        <p:spPr>
          <a:xfrm>
            <a:off x="685800" y="6373438"/>
            <a:ext cx="1818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latin typeface="+mn-lt"/>
              </a:rPr>
              <a:t>an event by </a:t>
            </a:r>
            <a:r>
              <a:rPr lang="en-US" sz="1000" b="1">
                <a:solidFill>
                  <a:schemeClr val="bg1"/>
                </a:solidFill>
                <a:latin typeface="+mn-lt"/>
              </a:rPr>
              <a:t>Asia Cloud Brokers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4793525-409A-D315-DDB9-3EA69F80C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437" y="271857"/>
            <a:ext cx="1972385" cy="59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74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BF9C-2A05-9771-1A0D-DD3B5A51B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49E24-0E74-A1EB-8F2A-0F529B500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E94AA-9464-F626-D76F-3AC5F28A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EA92-9113-27E6-8CA0-B8B5C84F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B49A-5ED8-8493-6B52-810C9A50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527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99A1-7239-6AA7-2CEA-6AC3C833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CF842-5F0F-95E0-97A2-9B211D98F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BBB29-45C0-9A2F-E05D-3BA1DA8F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2EEB-9170-21B4-5DB3-D43054B5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3A726-1A32-B4F9-DD62-00F5A4B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2449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5745-7FB0-2AC9-218F-5F9CFC80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2CBC-CFB3-EBF6-C70B-9A3998137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0F0BA-3BDC-AFCC-9475-95FF788F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41BF-197B-81A9-6C6F-8224722D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84B9-0D47-C9FE-BA77-F0CB12C7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0684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23CE-8708-C828-E000-9207BD5B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C7EF-A078-74CF-FE63-B85C1C85E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C322C-7886-5C96-2779-71A0803D3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770BC-4E06-CC31-B6B1-F60E6F9E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55C19-892A-30E5-63E6-B406529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CDFB3-ED97-BDD7-FFBA-D0790039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7608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25F8-405D-E156-6380-7EF2EBD4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5B66-BFEE-B410-7C2F-86A92460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5909E-A81B-2755-FDF9-7FDF3224D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E68D9-B94D-3D5F-21BA-DB522FA10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524F0-0A5D-1375-94FA-68040D37E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96D00-9CE5-2BF7-3A9A-7124609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096B9-CA4B-80B4-B8BE-FDC69BA2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78CC1-521F-3D2D-7719-7BBAC79E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4068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072E-0DFD-26DC-EC24-3CF14813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74372-91AE-596B-1BC4-60D25011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8887D-168E-FC19-7DD2-77A2C272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3A77-192A-89AC-3928-3E4896AE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9803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CF251-1DE3-DC28-E508-31320CC4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3A01B-2538-6F8D-35D9-E388EE22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C874A-221E-8EFA-3C0D-81C25FF3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39932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3D80-3308-57C5-BDA3-963C49B0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09D50-AC88-714B-1284-11C1EE2D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04461-A21F-DEDD-4C09-FECD0588F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E9F7-9527-7AFB-746C-C75B80EE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8FAC1-1E8F-4780-15B5-9A6288E0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1219F-1D3B-B233-1E9D-30A75EE4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8519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6C61-083E-FC8A-E2B1-381EDE11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1DB6B-4A41-01BB-0BCC-452E1BD1E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47BA4-B932-30AB-48CF-00CE12165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0CB45-39AB-667A-3AAB-A5E04B9E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5E016-516B-4401-9DD7-8F0E81E9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4C01F-8430-DAFD-24B7-5B414B66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722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3664-0E12-56F8-03BD-EA4A7F14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92EED-C5A8-98C7-A7F3-C138DF5C0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6458-619B-668A-4D52-7A4FEAF1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3CD0D-3ECB-11C8-064A-11464996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8409-5CED-F184-61AF-A72D2C1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106151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9251-9499-8962-97DE-96D892807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A47D8-2EDB-E7C6-D95F-9F850A621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77C3F-BC21-BBB2-ADE6-E64CE24B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C8EE-24EC-7332-1AC2-C679EA47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C9DF-57C9-218C-9FA0-54310C93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72217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LargeContent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202346"/>
            <a:ext cx="11277599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noProof="0"/>
              <a:t>Add the title of your slide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99" y="876425"/>
            <a:ext cx="11277600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Add a subtitle to specify your title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39863"/>
            <a:ext cx="11277600" cy="4884738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365125" indent="-355600">
              <a:buFont typeface="Police système Courant"/>
              <a:buChar char="➔"/>
              <a:tabLst/>
              <a:defRPr sz="22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 marL="496888" indent="-131763">
              <a:tabLst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 marL="669925" indent="-173038">
              <a:buFont typeface="Police système Courant"/>
              <a:buChar char="−"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 marL="801688" indent="-131763">
              <a:buFont typeface="Police système Courant"/>
              <a:buChar char="›"/>
              <a:tabLst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noProof="0"/>
              <a:t>Click here to modify the text of the masks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CF0DF025-ECE1-92A4-A0D1-DAE4C2652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marL="0" indent="0" algn="r">
              <a:buNone/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noProof="0"/>
              <a:t>Date : xx/xx/</a:t>
            </a:r>
            <a:r>
              <a:rPr lang="en-US" noProof="0" err="1"/>
              <a:t>xxxx</a:t>
            </a:r>
            <a:endParaRPr lang="en-US" noProof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1F1A0CAB-EE17-2F11-F49A-15EF3E318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3657" y="6555488"/>
            <a:ext cx="348343" cy="302512"/>
          </a:xfrm>
          <a:prstGeom prst="rect">
            <a:avLst/>
          </a:prstGeom>
        </p:spPr>
        <p:txBody>
          <a:bodyPr lIns="0" anchor="t"/>
          <a:lstStyle>
            <a:lvl1pPr algn="r">
              <a:defRPr sz="1100">
                <a:solidFill>
                  <a:srgbClr val="00008F"/>
                </a:solidFill>
              </a:defRPr>
            </a:lvl1pPr>
          </a:lstStyle>
          <a:p>
            <a:fld id="{6A9DB386-8FAF-DB45-A59B-3FA7E96456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F906E16-9120-97AF-CFD1-FD233261D4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541200"/>
            <a:ext cx="237316" cy="2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03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white 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 4" hidden="1">
            <a:extLst>
              <a:ext uri="{FF2B5EF4-FFF2-40B4-BE49-F238E27FC236}">
                <a16:creationId xmlns:a16="http://schemas.microsoft.com/office/drawing/2014/main" id="{9845EA60-395D-295D-25CC-A5ED3794FC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0523411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5" name="Objet 4" hidden="1">
                        <a:extLst>
                          <a:ext uri="{FF2B5EF4-FFF2-40B4-BE49-F238E27FC236}">
                            <a16:creationId xmlns:a16="http://schemas.microsoft.com/office/drawing/2014/main" id="{9845EA60-395D-295D-25CC-A5ED3794FC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A6DC1B1E-0E64-F7F5-023E-A21A1EE0D8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1999" y="762278"/>
            <a:ext cx="113370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2" name="Sommaire">
            <a:extLst>
              <a:ext uri="{FF2B5EF4-FFF2-40B4-BE49-F238E27FC236}">
                <a16:creationId xmlns:a16="http://schemas.microsoft.com/office/drawing/2014/main" id="{026BD224-CA6C-D1F2-8EF4-AF45A252FC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998" y="304481"/>
            <a:ext cx="11337079" cy="449643"/>
          </a:xfrm>
          <a:prstGeom prst="rect">
            <a:avLst/>
          </a:prstGeom>
        </p:spPr>
        <p:txBody>
          <a:bodyPr vert="horz" lIns="0" tIns="0" rIns="0" bIns="0" anchor="t"/>
          <a:lstStyle>
            <a:lvl1pPr algn="l" rtl="0">
              <a:defRPr sz="2800" b="1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1FF2D1-4A9E-9AD7-B47E-D2638A4977F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3" y="6548843"/>
            <a:ext cx="237316" cy="2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04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BBBA18-1872-E310-A521-CD332311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8807F-4142-4752-5717-8645EE0B2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B8E0F-2B3E-22DA-6A54-649DBFC9E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EDEC8-5DA7-C6B0-32BE-B310A61E9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BDB6-F8C7-6199-FFB8-16CAF9B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6CAFD-ACA9-376B-700D-2ED2BCA7155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MY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31708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  <p:sldLayoutId id="2147483665" r:id="rId13"/>
    <p:sldLayoutId id="21474836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BBBA18-1872-E310-A521-CD332311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8807F-4142-4752-5717-8645EE0B2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B8E0F-2B3E-22DA-6A54-649DBFC9E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EDEC8-5DA7-C6B0-32BE-B310A61E9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BDB6-F8C7-6199-FFB8-16CAF9B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6CAFD-ACA9-376B-700D-2ED2BCA7155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MY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59981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2ABF367-0FF4-CFBC-3F1A-7C10025094E0}"/>
              </a:ext>
            </a:extLst>
          </p:cNvPr>
          <p:cNvGrpSpPr/>
          <p:nvPr/>
        </p:nvGrpSpPr>
        <p:grpSpPr>
          <a:xfrm>
            <a:off x="6035040" y="3432048"/>
            <a:ext cx="5852160" cy="2377440"/>
            <a:chOff x="2743200" y="3389376"/>
            <a:chExt cx="6705600" cy="2377440"/>
          </a:xfrm>
        </p:grpSpPr>
        <p:sp>
          <p:nvSpPr>
            <p:cNvPr id="8" name="Shape 6"/>
            <p:cNvSpPr/>
            <p:nvPr/>
          </p:nvSpPr>
          <p:spPr>
            <a:xfrm>
              <a:off x="2743200" y="3389376"/>
              <a:ext cx="6705600" cy="2377440"/>
            </a:xfrm>
            <a:prstGeom prst="rect">
              <a:avLst/>
            </a:prstGeom>
            <a:solidFill>
              <a:srgbClr val="0A0A6A"/>
            </a:solidFill>
            <a:ln w="12700">
              <a:solidFill>
                <a:srgbClr val="2233A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9" name="Shape 7"/>
            <p:cNvSpPr/>
            <p:nvPr/>
          </p:nvSpPr>
          <p:spPr>
            <a:xfrm>
              <a:off x="2743200" y="3389376"/>
              <a:ext cx="6705600" cy="85344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10" name="Shape 8"/>
            <p:cNvSpPr/>
            <p:nvPr/>
          </p:nvSpPr>
          <p:spPr>
            <a:xfrm>
              <a:off x="2926080" y="3596640"/>
              <a:ext cx="1219200" cy="30480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30624" y="3596640"/>
              <a:ext cx="1341120" cy="304800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14" name="Text 12"/>
            <p:cNvSpPr/>
            <p:nvPr/>
          </p:nvSpPr>
          <p:spPr>
            <a:xfrm>
              <a:off x="2926080" y="4023360"/>
              <a:ext cx="64008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67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 Maturity Assessment Tool</a:t>
              </a:r>
              <a:endParaRPr lang="en-US" sz="2267"/>
            </a:p>
          </p:txBody>
        </p:sp>
        <p:sp>
          <p:nvSpPr>
            <p:cNvPr id="16" name="Text 14"/>
            <p:cNvSpPr/>
            <p:nvPr/>
          </p:nvSpPr>
          <p:spPr>
            <a:xfrm>
              <a:off x="2926080" y="4754880"/>
              <a:ext cx="640080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>
                  <a:solidFill>
                    <a:srgbClr val="AABB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Build-first approach (no AI)  ·  Product is ready·  AI integration in future phase</a:t>
              </a:r>
              <a:endParaRPr lang="en-US" sz="1267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" name="Shape 1"/>
          <p:cNvSpPr/>
          <p:nvPr/>
        </p:nvSpPr>
        <p:spPr>
          <a:xfrm>
            <a:off x="0" y="5998464"/>
            <a:ext cx="12192000" cy="859536"/>
          </a:xfrm>
          <a:prstGeom prst="rect">
            <a:avLst/>
          </a:prstGeom>
          <a:solidFill>
            <a:srgbClr val="000055"/>
          </a:solidFill>
          <a:ln w="12700">
            <a:solidFill>
              <a:srgbClr val="000055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4" name="Text 2"/>
          <p:cNvSpPr/>
          <p:nvPr/>
        </p:nvSpPr>
        <p:spPr>
          <a:xfrm>
            <a:off x="6705600" y="268224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>
                <a:solidFill>
                  <a:srgbClr val="77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 ASIA CLOUD BROKER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548640" y="121920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</a:t>
            </a:r>
            <a:endParaRPr lang="en-US" sz="5600"/>
          </a:p>
        </p:txBody>
      </p:sp>
      <p:sp>
        <p:nvSpPr>
          <p:cNvPr id="6" name="Text 4"/>
          <p:cNvSpPr/>
          <p:nvPr/>
        </p:nvSpPr>
        <p:spPr>
          <a:xfrm>
            <a:off x="548640" y="24384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Projects  ·  May 2026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548640" y="3169920"/>
            <a:ext cx="1121664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1" name="Text 9"/>
          <p:cNvSpPr/>
          <p:nvPr/>
        </p:nvSpPr>
        <p:spPr>
          <a:xfrm>
            <a:off x="5926404" y="3621024"/>
            <a:ext cx="121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7201559" y="362102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910328" y="2206752"/>
            <a:ext cx="6364224" cy="24384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7" name="Text 15"/>
          <p:cNvSpPr/>
          <p:nvPr/>
        </p:nvSpPr>
        <p:spPr>
          <a:xfrm>
            <a:off x="365760" y="6169152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–  INTERNAL USE ONLY</a:t>
            </a:r>
            <a:endParaRPr lang="en-US" sz="1067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C81CD00-9456-B903-B06E-8E62B799764C}"/>
              </a:ext>
            </a:extLst>
          </p:cNvPr>
          <p:cNvGrpSpPr/>
          <p:nvPr/>
        </p:nvGrpSpPr>
        <p:grpSpPr>
          <a:xfrm>
            <a:off x="534120" y="3425952"/>
            <a:ext cx="5242560" cy="2401824"/>
            <a:chOff x="548640" y="3352800"/>
            <a:chExt cx="5242560" cy="2316480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24AC7CC0-FE67-4B23-FDAE-4DA772CA1842}"/>
                </a:ext>
              </a:extLst>
            </p:cNvPr>
            <p:cNvSpPr/>
            <p:nvPr/>
          </p:nvSpPr>
          <p:spPr>
            <a:xfrm>
              <a:off x="548640" y="3352800"/>
              <a:ext cx="5242560" cy="2316480"/>
            </a:xfrm>
            <a:prstGeom prst="rect">
              <a:avLst/>
            </a:prstGeom>
            <a:solidFill>
              <a:srgbClr val="0A0A6A"/>
            </a:solidFill>
            <a:ln w="12700">
              <a:solidFill>
                <a:srgbClr val="2233A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2335C4F6-DB0B-FC0E-18AB-F58FA9B91A29}"/>
                </a:ext>
              </a:extLst>
            </p:cNvPr>
            <p:cNvSpPr/>
            <p:nvPr/>
          </p:nvSpPr>
          <p:spPr>
            <a:xfrm>
              <a:off x="548640" y="3352800"/>
              <a:ext cx="5242560" cy="8534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FB73B837-C12C-940A-341D-5B79424DECA8}"/>
                </a:ext>
              </a:extLst>
            </p:cNvPr>
            <p:cNvSpPr/>
            <p:nvPr/>
          </p:nvSpPr>
          <p:spPr>
            <a:xfrm>
              <a:off x="694944" y="3535680"/>
              <a:ext cx="1219200" cy="304800"/>
            </a:xfrm>
            <a:prstGeom prst="rect">
              <a:avLst/>
            </a:prstGeom>
            <a:solidFill>
              <a:srgbClr val="1A1A8A"/>
            </a:solidFill>
            <a:ln w="12700">
              <a:solidFill>
                <a:srgbClr val="1A1A8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3" name="Shape 10">
              <a:extLst>
                <a:ext uri="{FF2B5EF4-FFF2-40B4-BE49-F238E27FC236}">
                  <a16:creationId xmlns:a16="http://schemas.microsoft.com/office/drawing/2014/main" id="{791AD48A-2D15-AF9B-7F79-27FCE801C01B}"/>
                </a:ext>
              </a:extLst>
            </p:cNvPr>
            <p:cNvSpPr/>
            <p:nvPr/>
          </p:nvSpPr>
          <p:spPr>
            <a:xfrm>
              <a:off x="2011680" y="3535680"/>
              <a:ext cx="1463040" cy="3048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23FD7B99-AA0E-757A-421D-3CD2D625777A}"/>
                </a:ext>
              </a:extLst>
            </p:cNvPr>
            <p:cNvSpPr/>
            <p:nvPr/>
          </p:nvSpPr>
          <p:spPr>
            <a:xfrm>
              <a:off x="2011680" y="353568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IN PROGRESS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A1722C33-9E73-5CBB-5E97-CF24A5DDC473}"/>
                </a:ext>
              </a:extLst>
            </p:cNvPr>
            <p:cNvSpPr/>
            <p:nvPr/>
          </p:nvSpPr>
          <p:spPr>
            <a:xfrm>
              <a:off x="694944" y="3962400"/>
              <a:ext cx="499872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Cost Estimator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DFC71A7F-5B17-B366-71A1-B0C4B86AF0A9}"/>
                </a:ext>
              </a:extLst>
            </p:cNvPr>
            <p:cNvSpPr/>
            <p:nvPr/>
          </p:nvSpPr>
          <p:spPr>
            <a:xfrm>
              <a:off x="694944" y="4669536"/>
              <a:ext cx="49987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AABBDD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New UI/UX·  Other products added (MPI, NAS, POD)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AABBDD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Pricing update feature on portal·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sp>
        <p:nvSpPr>
          <p:cNvPr id="27" name="Text 9">
            <a:extLst>
              <a:ext uri="{FF2B5EF4-FFF2-40B4-BE49-F238E27FC236}">
                <a16:creationId xmlns:a16="http://schemas.microsoft.com/office/drawing/2014/main" id="{53027464-8349-F32F-DF42-6F18907DB32E}"/>
              </a:ext>
            </a:extLst>
          </p:cNvPr>
          <p:cNvSpPr/>
          <p:nvPr/>
        </p:nvSpPr>
        <p:spPr>
          <a:xfrm>
            <a:off x="692516" y="3596640"/>
            <a:ext cx="121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INTERNAL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3CE5722-24C6-553E-9E42-1E53C7ACF83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CE5722-24C6-553E-9E42-1E53C7ACF8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A068814F-202B-612F-6839-EA780D44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98" y="265404"/>
            <a:ext cx="11337079" cy="449643"/>
          </a:xfrm>
        </p:spPr>
        <p:txBody>
          <a:bodyPr/>
          <a:lstStyle/>
          <a:p>
            <a:pPr algn="ctr"/>
            <a:r>
              <a:rPr lang="en-US" sz="3200">
                <a:ea typeface="+mj-lt"/>
                <a:cs typeface="+mj-lt"/>
              </a:rPr>
              <a:t>Automation </a:t>
            </a:r>
            <a:r>
              <a:rPr lang="en-US" sz="3200">
                <a:latin typeface="Source Sans Pro"/>
                <a:ea typeface="Source Sans Pro"/>
              </a:rPr>
              <a:t>Project Updates</a:t>
            </a:r>
            <a:endParaRPr lang="en-MY" sz="3200">
              <a:latin typeface="Source Sans Pro"/>
              <a:ea typeface="Source Sans Pro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13DACB60-0E45-860F-794B-203DF0A08350}"/>
              </a:ext>
            </a:extLst>
          </p:cNvPr>
          <p:cNvSpPr/>
          <p:nvPr/>
        </p:nvSpPr>
        <p:spPr>
          <a:xfrm>
            <a:off x="175198" y="721812"/>
            <a:ext cx="11869766" cy="57926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FF5667D-FD0C-7539-FA03-4F2467710F79}"/>
              </a:ext>
            </a:extLst>
          </p:cNvPr>
          <p:cNvSpPr/>
          <p:nvPr/>
        </p:nvSpPr>
        <p:spPr>
          <a:xfrm>
            <a:off x="196960" y="918875"/>
            <a:ext cx="5547360" cy="487680"/>
          </a:xfrm>
          <a:prstGeom prst="rect">
            <a:avLst/>
          </a:prstGeom>
          <a:solidFill>
            <a:srgbClr val="1A1A8A"/>
          </a:solidFill>
          <a:ln w="12700">
            <a:solidFill>
              <a:srgbClr val="1A1A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0661955-2446-1AF2-B413-EAB6911F7553}"/>
              </a:ext>
            </a:extLst>
          </p:cNvPr>
          <p:cNvSpPr/>
          <p:nvPr/>
        </p:nvSpPr>
        <p:spPr>
          <a:xfrm>
            <a:off x="343264" y="918875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Cost Estimator</a:t>
            </a:r>
            <a:r>
              <a:rPr lang="en-US" sz="1400" b="1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/Cloud Maturity Assessment</a:t>
            </a:r>
            <a:endParaRPr lang="en-US" sz="140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D50B163-EF0D-074F-5916-D8F450DF4F56}"/>
              </a:ext>
            </a:extLst>
          </p:cNvPr>
          <p:cNvSpPr/>
          <p:nvPr/>
        </p:nvSpPr>
        <p:spPr>
          <a:xfrm>
            <a:off x="4269088" y="1004219"/>
            <a:ext cx="1365504" cy="316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58E5AC4-A0B4-DABC-E03C-8D5A4DDBE82A}"/>
              </a:ext>
            </a:extLst>
          </p:cNvPr>
          <p:cNvSpPr/>
          <p:nvPr/>
        </p:nvSpPr>
        <p:spPr>
          <a:xfrm>
            <a:off x="4269088" y="1004219"/>
            <a:ext cx="136550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IN PROGRESS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CECCA95-4541-B60E-5CC5-00A9AFC4FA82}"/>
              </a:ext>
            </a:extLst>
          </p:cNvPr>
          <p:cNvSpPr/>
          <p:nvPr/>
        </p:nvSpPr>
        <p:spPr>
          <a:xfrm>
            <a:off x="196960" y="1406555"/>
            <a:ext cx="5547360" cy="31699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09367B7-D153-4D36-9ABC-E111A1E357B3}"/>
              </a:ext>
            </a:extLst>
          </p:cNvPr>
          <p:cNvSpPr/>
          <p:nvPr/>
        </p:nvSpPr>
        <p:spPr>
          <a:xfrm>
            <a:off x="343264" y="1406555"/>
            <a:ext cx="53035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33" normalizeH="0" baseline="0" noProof="0">
                <a:ln>
                  <a:noFill/>
                </a:ln>
                <a:solidFill>
                  <a:srgbClr val="1A1A8A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TOOL UPDATES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887642CE-0671-64AC-5956-491D07EB5684}"/>
              </a:ext>
            </a:extLst>
          </p:cNvPr>
          <p:cNvSpPr/>
          <p:nvPr/>
        </p:nvSpPr>
        <p:spPr>
          <a:xfrm>
            <a:off x="282304" y="3451287"/>
            <a:ext cx="5425440" cy="318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new subscription (non-prod and prod) under AXA 365 tenant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(7 July-9 July)</a:t>
            </a:r>
          </a:p>
          <a:p>
            <a:pPr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security fix/recommendation provided by Balaji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(2-10 July )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 to new non-prod subscription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(9 July-10 July)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Provide new link to </a:t>
            </a:r>
            <a:r>
              <a:rPr lang="en-US" sz="100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Tayisiya</a:t>
            </a: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Tarasova to add for Cloud Broker Home Page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(13 July)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Engage security to perform full review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(13-19 July)</a:t>
            </a:r>
          </a:p>
          <a:p>
            <a:pPr lvl="0"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711622C4-1851-3EED-4613-6B5FEAC30515}"/>
              </a:ext>
            </a:extLst>
          </p:cNvPr>
          <p:cNvSpPr/>
          <p:nvPr/>
        </p:nvSpPr>
        <p:spPr>
          <a:xfrm>
            <a:off x="465184" y="4100987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845C000-308D-761F-F425-9B3034BE8FD9}"/>
              </a:ext>
            </a:extLst>
          </p:cNvPr>
          <p:cNvSpPr/>
          <p:nvPr/>
        </p:nvSpPr>
        <p:spPr>
          <a:xfrm>
            <a:off x="4671424" y="3406043"/>
            <a:ext cx="926592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24 Mar</a:t>
            </a:r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026B5B9-6FEC-7C13-AE8C-A0C8798FFD27}"/>
              </a:ext>
            </a:extLst>
          </p:cNvPr>
          <p:cNvSpPr/>
          <p:nvPr/>
        </p:nvSpPr>
        <p:spPr>
          <a:xfrm>
            <a:off x="343264" y="6124859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endParaRPr kumimoji="0" lang="en-US" sz="11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86169B1-A73C-0D3B-C6D5-9164AD3B2E5A}"/>
              </a:ext>
            </a:extLst>
          </p:cNvPr>
          <p:cNvSpPr/>
          <p:nvPr/>
        </p:nvSpPr>
        <p:spPr>
          <a:xfrm>
            <a:off x="6036928" y="918875"/>
            <a:ext cx="5669280" cy="48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E903923A-CEE5-0EB6-E976-230541912C66}"/>
              </a:ext>
            </a:extLst>
          </p:cNvPr>
          <p:cNvSpPr/>
          <p:nvPr/>
        </p:nvSpPr>
        <p:spPr>
          <a:xfrm>
            <a:off x="6183232" y="918875"/>
            <a:ext cx="39014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Other Automation Task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EC08B23F-3322-B80B-1CEA-CBD07F425114}"/>
              </a:ext>
            </a:extLst>
          </p:cNvPr>
          <p:cNvSpPr/>
          <p:nvPr/>
        </p:nvSpPr>
        <p:spPr>
          <a:xfrm>
            <a:off x="10218784" y="1004219"/>
            <a:ext cx="1365504" cy="316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BCF22F3E-6A94-D747-3AB3-351A71226C63}"/>
              </a:ext>
            </a:extLst>
          </p:cNvPr>
          <p:cNvSpPr/>
          <p:nvPr/>
        </p:nvSpPr>
        <p:spPr>
          <a:xfrm>
            <a:off x="10218784" y="1004219"/>
            <a:ext cx="136550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F32A1D92-6B75-CE4C-BC22-9DE2C845ADAE}"/>
              </a:ext>
            </a:extLst>
          </p:cNvPr>
          <p:cNvSpPr/>
          <p:nvPr/>
        </p:nvSpPr>
        <p:spPr>
          <a:xfrm>
            <a:off x="6036928" y="1406555"/>
            <a:ext cx="5669280" cy="316992"/>
          </a:xfrm>
          <a:prstGeom prst="rect">
            <a:avLst/>
          </a:prstGeom>
          <a:solidFill>
            <a:srgbClr val="F0FDF9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93F18585-3D7D-3040-C201-D8EF9249DF0D}"/>
              </a:ext>
            </a:extLst>
          </p:cNvPr>
          <p:cNvSpPr/>
          <p:nvPr/>
        </p:nvSpPr>
        <p:spPr>
          <a:xfrm>
            <a:off x="6183232" y="1406555"/>
            <a:ext cx="542544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33" normalizeH="0" baseline="0" noProof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E3D2EA4D-DEAB-738C-5495-36E441D94B84}"/>
              </a:ext>
            </a:extLst>
          </p:cNvPr>
          <p:cNvSpPr/>
          <p:nvPr/>
        </p:nvSpPr>
        <p:spPr>
          <a:xfrm>
            <a:off x="6036928" y="1817564"/>
            <a:ext cx="5425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11B8F94E-4379-AF16-3527-C749112FB1D6}"/>
              </a:ext>
            </a:extLst>
          </p:cNvPr>
          <p:cNvSpPr/>
          <p:nvPr/>
        </p:nvSpPr>
        <p:spPr>
          <a:xfrm>
            <a:off x="6183232" y="3490508"/>
            <a:ext cx="5425440" cy="271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2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E4D2EA9A-835F-E8C4-0E5B-96D95A8A5682}"/>
              </a:ext>
            </a:extLst>
          </p:cNvPr>
          <p:cNvSpPr/>
          <p:nvPr/>
        </p:nvSpPr>
        <p:spPr>
          <a:xfrm>
            <a:off x="6183232" y="6124859"/>
            <a:ext cx="5425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B737B9-1301-4AB5-107D-A6C829997584}"/>
              </a:ext>
            </a:extLst>
          </p:cNvPr>
          <p:cNvGrpSpPr/>
          <p:nvPr/>
        </p:nvGrpSpPr>
        <p:grpSpPr>
          <a:xfrm>
            <a:off x="175198" y="3409257"/>
            <a:ext cx="11869766" cy="285756"/>
            <a:chOff x="311998" y="3126653"/>
            <a:chExt cx="5547360" cy="316992"/>
          </a:xfrm>
        </p:grpSpPr>
        <p:sp>
          <p:nvSpPr>
            <p:cNvPr id="58" name="Shape 46">
              <a:extLst>
                <a:ext uri="{FF2B5EF4-FFF2-40B4-BE49-F238E27FC236}">
                  <a16:creationId xmlns:a16="http://schemas.microsoft.com/office/drawing/2014/main" id="{73FBAA65-50EC-0497-321A-82981176E271}"/>
                </a:ext>
              </a:extLst>
            </p:cNvPr>
            <p:cNvSpPr/>
            <p:nvPr/>
          </p:nvSpPr>
          <p:spPr>
            <a:xfrm>
              <a:off x="311998" y="3126653"/>
              <a:ext cx="5547360" cy="316992"/>
            </a:xfrm>
            <a:prstGeom prst="rect">
              <a:avLst/>
            </a:prstGeom>
            <a:solidFill>
              <a:srgbClr val="EEF2FF"/>
            </a:solidFill>
            <a:ln w="12700">
              <a:solidFill>
                <a:srgbClr val="C7D2FE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CA6FD42-3F44-035A-493B-02535ABF03E1}"/>
                </a:ext>
              </a:extLst>
            </p:cNvPr>
            <p:cNvSpPr txBox="1"/>
            <p:nvPr/>
          </p:nvSpPr>
          <p:spPr>
            <a:xfrm>
              <a:off x="351533" y="3162284"/>
              <a:ext cx="26386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kern="0" spc="133">
                  <a:solidFill>
                    <a:srgbClr val="0000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ACTIONS Items</a:t>
              </a:r>
              <a:endParaRPr lang="en-MY" sz="1000" b="1" kern="0" spc="133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DC68E22-5F6D-7F63-57F7-A10DD209B84B}"/>
              </a:ext>
            </a:extLst>
          </p:cNvPr>
          <p:cNvSpPr txBox="1"/>
          <p:nvPr/>
        </p:nvSpPr>
        <p:spPr>
          <a:xfrm>
            <a:off x="184998" y="1795903"/>
            <a:ext cx="5559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/>
              <a:t>1. </a:t>
            </a:r>
            <a:r>
              <a:rPr lang="en-US" sz="1050"/>
              <a:t>Current status: completed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New subscription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Resource deployment completed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Estimator deployed and enabled on AXA 365 tenant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Vnet creation completed</a:t>
            </a:r>
          </a:p>
          <a:p>
            <a:endParaRPr lang="en-US" sz="1050"/>
          </a:p>
          <a:p>
            <a:r>
              <a:rPr lang="en-US" sz="1050"/>
              <a:t>In progress </a:t>
            </a:r>
            <a:br>
              <a:rPr lang="en-US" sz="1050"/>
            </a:br>
            <a:r>
              <a:rPr lang="en-US" sz="1050"/>
              <a:t>- </a:t>
            </a:r>
            <a:r>
              <a:rPr lang="en-US" sz="1050" err="1"/>
              <a:t>fqdn</a:t>
            </a:r>
            <a:r>
              <a:rPr lang="en-US" sz="1050"/>
              <a:t> creation and certificate for custom domain</a:t>
            </a:r>
          </a:p>
          <a:p>
            <a:r>
              <a:rPr lang="en-US" sz="1050"/>
              <a:t>-DNS record </a:t>
            </a:r>
            <a:r>
              <a:rPr lang="en-MY" sz="1050"/>
              <a:t>RITM10861216</a:t>
            </a:r>
            <a:endParaRPr lang="en-US" sz="105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703020-1D84-A1E0-E79B-0A2F284F2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213445"/>
              </p:ext>
            </p:extLst>
          </p:nvPr>
        </p:nvGraphicFramePr>
        <p:xfrm>
          <a:off x="6183232" y="3777116"/>
          <a:ext cx="5699337" cy="2511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147">
                  <a:extLst>
                    <a:ext uri="{9D8B030D-6E8A-4147-A177-3AD203B41FA5}">
                      <a16:colId xmlns:a16="http://schemas.microsoft.com/office/drawing/2014/main" val="2974049617"/>
                    </a:ext>
                  </a:extLst>
                </a:gridCol>
                <a:gridCol w="1905595">
                  <a:extLst>
                    <a:ext uri="{9D8B030D-6E8A-4147-A177-3AD203B41FA5}">
                      <a16:colId xmlns:a16="http://schemas.microsoft.com/office/drawing/2014/main" val="4170442231"/>
                    </a:ext>
                  </a:extLst>
                </a:gridCol>
                <a:gridCol w="1905595">
                  <a:extLst>
                    <a:ext uri="{9D8B030D-6E8A-4147-A177-3AD203B41FA5}">
                      <a16:colId xmlns:a16="http://schemas.microsoft.com/office/drawing/2014/main" val="1587568808"/>
                    </a:ext>
                  </a:extLst>
                </a:gridCol>
              </a:tblGrid>
              <a:tr h="283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Milestone</a:t>
                      </a:r>
                      <a:endParaRPr lang="en-MY" sz="12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Timeline</a:t>
                      </a:r>
                      <a:endParaRPr lang="en-MY" sz="12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Status</a:t>
                      </a:r>
                      <a:endParaRPr lang="en-MY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696541"/>
                  </a:ext>
                </a:extLst>
              </a:tr>
              <a:tr h="49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Subscription creation (AXA 365 tenant)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10th July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MY" sz="1200">
                          <a:effectLst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31697"/>
                  </a:ext>
                </a:extLst>
              </a:tr>
              <a:tr h="49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Apply security fixes &amp; recommendations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2–10 July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>
                          <a:effectLst/>
                        </a:rPr>
                        <a:t>In Progress</a:t>
                      </a:r>
                    </a:p>
                    <a:p>
                      <a:pPr>
                        <a:buNone/>
                      </a:pPr>
                      <a:endParaRPr lang="en-MY" sz="120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684193"/>
                  </a:ext>
                </a:extLst>
              </a:tr>
              <a:tr h="49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Deploy to non-prod subscription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9 July – 10 July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Scheduled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536627"/>
                  </a:ext>
                </a:extLst>
              </a:tr>
              <a:tr h="452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Share live link with Taisiya</a:t>
                      </a:r>
                      <a:endParaRPr lang="en-US" sz="120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13 July</a:t>
                      </a:r>
                      <a:endParaRPr lang="en-MY" sz="120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Scheduled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36832"/>
                  </a:ext>
                </a:extLst>
              </a:tr>
              <a:tr h="283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Full security review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13–19 July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Scheduled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49965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7BD07E3-5F2E-9C4A-1A78-DED2F0821377}"/>
              </a:ext>
            </a:extLst>
          </p:cNvPr>
          <p:cNvSpPr txBox="1"/>
          <p:nvPr/>
        </p:nvSpPr>
        <p:spPr>
          <a:xfrm>
            <a:off x="6036928" y="1924895"/>
            <a:ext cx="571607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/>
              <a:t>Azure Monitoring and Notification Solution (SPN, Orphaned disk, </a:t>
            </a:r>
            <a:r>
              <a:rPr lang="en-US" sz="1100" err="1"/>
              <a:t>Keyvault</a:t>
            </a:r>
            <a:r>
              <a:rPr lang="en-US" sz="1100"/>
              <a:t>)</a:t>
            </a:r>
          </a:p>
          <a:p>
            <a:r>
              <a:rPr lang="en-US" sz="1100"/>
              <a:t>        Scope: Tech Asia Tenant</a:t>
            </a:r>
          </a:p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sz="1100"/>
              <a:t>AXA Hong Kong </a:t>
            </a:r>
            <a:r>
              <a:rPr lang="en-US" sz="1100" err="1"/>
              <a:t>Nonprod</a:t>
            </a:r>
            <a:r>
              <a:rPr lang="en-US" sz="1100"/>
              <a:t> and Preprod subscription (Completed) </a:t>
            </a:r>
          </a:p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sz="1100"/>
              <a:t>AXA Hong Kong Production subscription (Completed)</a:t>
            </a:r>
          </a:p>
          <a:p>
            <a:pPr marL="228600" indent="-228600">
              <a:buFont typeface="Wingdings" panose="05000000000000000000" pitchFamily="2" charset="2"/>
              <a:buChar char="Ø"/>
            </a:pPr>
            <a:endParaRPr lang="en-US"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CFDDF-E6C5-394B-101E-AEA473C51D27}"/>
              </a:ext>
            </a:extLst>
          </p:cNvPr>
          <p:cNvSpPr txBox="1"/>
          <p:nvPr/>
        </p:nvSpPr>
        <p:spPr>
          <a:xfrm>
            <a:off x="3607507" y="1813245"/>
            <a:ext cx="2155101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Other items in progress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HLD / LLD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Functional Documentation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Technical Documentation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Resource Inventory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Code Repository and CI/CD Chain</a:t>
            </a:r>
            <a:endParaRPr lang="en-MY" sz="1050"/>
          </a:p>
        </p:txBody>
      </p:sp>
    </p:spTree>
    <p:extLst>
      <p:ext uri="{BB962C8B-B14F-4D97-AF65-F5344CB8AC3E}">
        <p14:creationId xmlns:p14="http://schemas.microsoft.com/office/powerpoint/2010/main" val="327408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A31AD7-2C14-45CF-5EF5-039A4242B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681448"/>
              </p:ext>
            </p:extLst>
          </p:nvPr>
        </p:nvGraphicFramePr>
        <p:xfrm>
          <a:off x="67733" y="119776"/>
          <a:ext cx="12124267" cy="6724342"/>
        </p:xfrm>
        <a:graphic>
          <a:graphicData uri="http://schemas.openxmlformats.org/drawingml/2006/table">
            <a:tbl>
              <a:tblPr/>
              <a:tblGrid>
                <a:gridCol w="602571">
                  <a:extLst>
                    <a:ext uri="{9D8B030D-6E8A-4147-A177-3AD203B41FA5}">
                      <a16:colId xmlns:a16="http://schemas.microsoft.com/office/drawing/2014/main" val="4086703381"/>
                    </a:ext>
                  </a:extLst>
                </a:gridCol>
                <a:gridCol w="1317712">
                  <a:extLst>
                    <a:ext uri="{9D8B030D-6E8A-4147-A177-3AD203B41FA5}">
                      <a16:colId xmlns:a16="http://schemas.microsoft.com/office/drawing/2014/main" val="2274205246"/>
                    </a:ext>
                  </a:extLst>
                </a:gridCol>
                <a:gridCol w="1390550">
                  <a:extLst>
                    <a:ext uri="{9D8B030D-6E8A-4147-A177-3AD203B41FA5}">
                      <a16:colId xmlns:a16="http://schemas.microsoft.com/office/drawing/2014/main" val="505969322"/>
                    </a:ext>
                  </a:extLst>
                </a:gridCol>
                <a:gridCol w="1258116">
                  <a:extLst>
                    <a:ext uri="{9D8B030D-6E8A-4147-A177-3AD203B41FA5}">
                      <a16:colId xmlns:a16="http://schemas.microsoft.com/office/drawing/2014/main" val="3290936337"/>
                    </a:ext>
                  </a:extLst>
                </a:gridCol>
                <a:gridCol w="1324332">
                  <a:extLst>
                    <a:ext uri="{9D8B030D-6E8A-4147-A177-3AD203B41FA5}">
                      <a16:colId xmlns:a16="http://schemas.microsoft.com/office/drawing/2014/main" val="915551635"/>
                    </a:ext>
                  </a:extLst>
                </a:gridCol>
                <a:gridCol w="2065959">
                  <a:extLst>
                    <a:ext uri="{9D8B030D-6E8A-4147-A177-3AD203B41FA5}">
                      <a16:colId xmlns:a16="http://schemas.microsoft.com/office/drawing/2014/main" val="2095080866"/>
                    </a:ext>
                  </a:extLst>
                </a:gridCol>
                <a:gridCol w="1443523">
                  <a:extLst>
                    <a:ext uri="{9D8B030D-6E8A-4147-A177-3AD203B41FA5}">
                      <a16:colId xmlns:a16="http://schemas.microsoft.com/office/drawing/2014/main" val="4259940650"/>
                    </a:ext>
                  </a:extLst>
                </a:gridCol>
                <a:gridCol w="1443523">
                  <a:extLst>
                    <a:ext uri="{9D8B030D-6E8A-4147-A177-3AD203B41FA5}">
                      <a16:colId xmlns:a16="http://schemas.microsoft.com/office/drawing/2014/main" val="1500413151"/>
                    </a:ext>
                  </a:extLst>
                </a:gridCol>
                <a:gridCol w="403922">
                  <a:extLst>
                    <a:ext uri="{9D8B030D-6E8A-4147-A177-3AD203B41FA5}">
                      <a16:colId xmlns:a16="http://schemas.microsoft.com/office/drawing/2014/main" val="1446812271"/>
                    </a:ext>
                  </a:extLst>
                </a:gridCol>
                <a:gridCol w="456894">
                  <a:extLst>
                    <a:ext uri="{9D8B030D-6E8A-4147-A177-3AD203B41FA5}">
                      <a16:colId xmlns:a16="http://schemas.microsoft.com/office/drawing/2014/main" val="4272683152"/>
                    </a:ext>
                  </a:extLst>
                </a:gridCol>
                <a:gridCol w="417165">
                  <a:extLst>
                    <a:ext uri="{9D8B030D-6E8A-4147-A177-3AD203B41FA5}">
                      <a16:colId xmlns:a16="http://schemas.microsoft.com/office/drawing/2014/main" val="1152948946"/>
                    </a:ext>
                  </a:extLst>
                </a:gridCol>
              </a:tblGrid>
              <a:tr h="18824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MY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MPI CALCULATOR  →  AXA CLOUD COST ESTIMATOR</a:t>
                      </a:r>
                      <a:endParaRPr lang="en-MY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98172"/>
                  </a:ext>
                </a:extLst>
              </a:tr>
              <a:tr h="5588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PROJECT PHASE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Dec 2025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Closing with V1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(MPI Calculator v1)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JAN 2026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Dual Cloud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Enhancement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FEB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Dual Cloud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Enhancement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MAR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Scope Expansion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(Rename Decision)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EARLY APR 2026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Rebuild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Decision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MID APR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AXA Cloud Estimator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Implementation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APR 17, 2026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★ Last MVP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MAY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900" b="1" i="0" u="none" strike="noStrike">
                        <a:solidFill>
                          <a:srgbClr val="6B37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JUNE 2026</a:t>
                      </a:r>
                      <a:br>
                        <a:rPr lang="en-MY" sz="5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500" b="1" i="0" u="none" strike="noStrike">
                        <a:solidFill>
                          <a:srgbClr val="6B37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JULY,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★ Go-live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86975"/>
                  </a:ext>
                </a:extLst>
              </a:tr>
              <a:tr h="23658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MPI Calculator v1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(Dec 2025)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MPI Calculator concept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Pricing API integration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Vanilla HTML + Bootstrap + JS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App Service: z-mpi-calc-project-app01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DevOps pipeline created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VM / SKU selection by region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Hourly &amp; monthly cost output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30% MPI support surcharge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Excel export (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SheetJS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Dev / staging slot deployment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+ AWS dual-cloud in one UI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Static JSON price files (~15 MB)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AWS EBS disk type support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OS-specific pricing (Win / Linux)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Branch-based pipeline YAML conditionals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Save / load calculations (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localStorage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Windows Server 2022 support added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Full codebase review session (Feb 9)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Pricing data validation (Azure + AWS JSON files)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Pipeline YAML slot conditionals stabilised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No new features — tool in stable state post-dual-cloud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NAS team call — 24 Mar 2026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Presented current tool to NAS team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Fileshare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PO: Priyadarshini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Gathered NAS charging requirements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Decision: build unified 'AXA Cloud Estimator'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Scope: MPI + NAS + POD + Terraform WS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Shared with Olivier; to present to Nicolas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Scrap vanilla HTML/JS entirely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Rebuild: React + Vite SPA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Functions Node.js v4 backend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Entra ID SSO (existing app registration)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4 Table Storage tables: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Products / Estimates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AuditLog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UserRoles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Reuse existing App Service + slots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live pricing API (approved regions)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AWS pricing remains static JSON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4-product estimator: MPI / NAS / POD / TF WS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Tabs: Estimator / Pricing Panel / IAM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Roles: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super_admin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pricing_admin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user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Flat rate-card model (no per-SKU lookup)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Pricing admin scoped per product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Per-user estimates;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super_admin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sees all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Pricing audit log (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old→new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user, timestamp)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PDF + CSV export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Dark / light theme toggle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MPI cost logic fully refined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Per-VM charge multipliers confirmed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FX rate (USD → EUR) applied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License key resolution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(Win / Linux / SQL / Oracle / JBoss)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Middleware + DB2 pattern flags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Architecture fully aligned with CMA stack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Last active session: Apr 27, 2026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Present to Oliver: May 13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8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Deploy to global tenant</a:t>
                      </a:r>
                    </a:p>
                  </a:txBody>
                  <a:tcPr marL="2872" marR="2872" marT="2872" marB="0">
                    <a:lnL>
                      <a:noFill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Target to go-live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677528"/>
                  </a:ext>
                </a:extLst>
              </a:tr>
              <a:tr h="12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674258"/>
                  </a:ext>
                </a:extLst>
              </a:tr>
              <a:tr h="219128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CLOUD MATURITY ASSESSMENT PLATFORM (CMA</a:t>
                      </a: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2872" marR="2872" marT="28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712546"/>
                  </a:ext>
                </a:extLst>
              </a:tr>
              <a:tr h="280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PROJECT PHASE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FEB – MAR 2,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Concept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MAR 25–26,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Presentations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MAR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Pivot + Design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8, 2026</a:t>
                      </a:r>
                      <a:b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v1 — Full Build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8–14, 2026</a:t>
                      </a:r>
                      <a:b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v2 → v4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14–16, 2026</a:t>
                      </a:r>
                      <a:b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v5 → v8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17, 2026</a:t>
                      </a:r>
                      <a:b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★ v9 — Last MVP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MAY,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900" b="1" i="0" u="none" strike="noStrike">
                        <a:solidFill>
                          <a:srgbClr val="0A356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JUNE,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900" b="1" i="0" u="none" strike="noStrike">
                        <a:solidFill>
                          <a:srgbClr val="0A356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JULY,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★ Go-live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787910"/>
                  </a:ext>
                </a:extLst>
              </a:tr>
              <a:tr h="13867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CMA Platform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(Feb – Apr 2026)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Cloud Adoption Journey tool concept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Reference deck: Asia CB CMA Platform.pptx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AI-generated questions via RAG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OpenAI + Azure AI Search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Confluence + Azure/AWS doc ingestion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Agentic dynamic follow-up logic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5-section assessment structure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Footprint / Migration / Team / Challenges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 Use Case Collection Call — 25 Mar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Presented to larger audience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Positive reception across teams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Olga sync — 26 Mar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Framework inputs aligned with Olga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GO Strategy meeting (Ankur +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Randolphe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CMA well-received by leadership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Action: PEPPS demand for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SecureGPT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creds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 Use Case ID Card update pending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Pivot: adoption → operational maturity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Excel v0.2 — 37 questions, 5 categories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Platform branching: MPI / POD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OpenPaaS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Scoring: Beginner / Intermediate / Advanced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 dropped — structured form UX instead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Stack: React + Functions + SWA + Entra ID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React frontend + Azure Functions Node.js v4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4 Table Storage tables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(users / entities / assessments / settings)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Static Web Apps + Entra ID SSO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Chat-style assessment UX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Radar chart + section score bars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Per-section recommendations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PDF export + Azure DevOps pipeline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Roles: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superadmin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admin / user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v2: Initial deploy bug fixes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backend/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package.json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main field locked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EnableWorkerIndexing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flag added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Auth middleware —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userDetails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fallback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CORS preflight fix (full page nav)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responseOverrides.401 removed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Presented to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Sureen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and gathered feedback on improvements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Section weights in Settings tab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Progress bar redesign (5-section)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Questions CRUD tab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/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api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/questions backend endpoint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v5: Per-product scoring + separate submissions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Dark / light mode toggle (moon / sun)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Expandable recommendation cards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Maturity legend (Green / Amber / Red)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Multi-product aggregate dashboard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v7: Infrastructure remediations consolidated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v8: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filterApplicableQuestions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updated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v8: product field fix — incomplete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(normalization map still dropping product field)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Root cause fixed: product field preserved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in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AssessmentRun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normalization map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Platform-specific question filtering works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PDF rewritten: per-product sections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questionAppliesToProduct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helper added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Demo speaking notes drafted (7–8 min)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Management presentation confirmed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Code has been share with security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Last active session: Apr 21, 2026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Waiting complete report/ findings for security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8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Deploy to global tenant</a:t>
                      </a:r>
                    </a:p>
                  </a:txBody>
                  <a:tcPr marL="2872" marR="2872" marT="2872" marB="0">
                    <a:lnL>
                      <a:noFill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Target to go-live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941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0471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1AAB701C25844B9F6DB71F4614CA6D" ma:contentTypeVersion="19" ma:contentTypeDescription="Create a new document." ma:contentTypeScope="" ma:versionID="567b038c029317cc428928b72aba2e5a">
  <xsd:schema xmlns:xsd="http://www.w3.org/2001/XMLSchema" xmlns:xs="http://www.w3.org/2001/XMLSchema" xmlns:p="http://schemas.microsoft.com/office/2006/metadata/properties" xmlns:ns2="e22baa40-1712-4122-9f07-c07d2821a326" xmlns:ns3="e4374485-9a10-4864-8ec3-506b4b38d94b" targetNamespace="http://schemas.microsoft.com/office/2006/metadata/properties" ma:root="true" ma:fieldsID="81f2614d8bd76564c8580f27dfdfc8de" ns2:_="" ns3:_="">
    <xsd:import namespace="e22baa40-1712-4122-9f07-c07d2821a326"/>
    <xsd:import namespace="e4374485-9a10-4864-8ec3-506b4b38d9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Tag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baa40-1712-4122-9f07-c07d2821a3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15" nillable="true" ma:displayName="Length (seconds)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c7cd8e4-056a-4b9a-a096-56d591af49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Tag" ma:index="22" nillable="true" ma:displayName="Tag" ma:default="OpenPaas_CostOptimization_2023" ma:description="OpenPaas_CostOptimization_2023_without_markups" ma:format="Dropdown" ma:hidden="true" ma:internalName="Tag" ma:readOnly="false">
      <xsd:simpleType>
        <xsd:restriction base="dms:Text">
          <xsd:maxLength value="255"/>
        </xsd:restriction>
      </xsd:simpleType>
    </xsd:element>
    <xsd:element name="MediaServiceOCR" ma:index="23" nillable="true" ma:displayName="Extracted Text" ma:hidden="true" ma:internalName="MediaServiceOCR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374485-9a10-4864-8ec3-506b4b38d94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07f79419-0865-4e4c-b79b-02d2323c6fab}" ma:internalName="TaxCatchAll" ma:readOnly="false" ma:showField="CatchAllData" ma:web="e4374485-9a10-4864-8ec3-506b4b38d9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g xmlns="e22baa40-1712-4122-9f07-c07d2821a326">OpenPaas_CostOptimization_2023</Tag>
    <lcf76f155ced4ddcb4097134ff3c332f xmlns="e22baa40-1712-4122-9f07-c07d2821a326">
      <Terms xmlns="http://schemas.microsoft.com/office/infopath/2007/PartnerControls"/>
    </lcf76f155ced4ddcb4097134ff3c332f>
    <TaxCatchAll xmlns="e4374485-9a10-4864-8ec3-506b4b38d94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974B59-DC7F-42CC-8052-4278AEC54C8C}">
  <ds:schemaRefs>
    <ds:schemaRef ds:uri="e22baa40-1712-4122-9f07-c07d2821a326"/>
    <ds:schemaRef ds:uri="e4374485-9a10-4864-8ec3-506b4b38d9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74DB00C-04E8-4245-A437-0F1C6B17921C}">
  <ds:schemaRefs>
    <ds:schemaRef ds:uri="e22baa40-1712-4122-9f07-c07d2821a326"/>
    <ds:schemaRef ds:uri="e4374485-9a10-4864-8ec3-506b4b38d9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3552CFA-8B79-47CB-B54B-7E00DC88B9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1475</Words>
  <Application>Microsoft Office PowerPoint</Application>
  <PresentationFormat>Widescreen</PresentationFormat>
  <Paragraphs>121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Police système Courant</vt:lpstr>
      <vt:lpstr>Source Sans Pro</vt:lpstr>
      <vt:lpstr>Wingdings</vt:lpstr>
      <vt:lpstr>Office Theme</vt:lpstr>
      <vt:lpstr>1_Office Theme</vt:lpstr>
      <vt:lpstr>think-cell Slide</vt:lpstr>
      <vt:lpstr>PowerPoint Presentation</vt:lpstr>
      <vt:lpstr>Automation Project Updates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RAWAT Vinay</dc:creator>
  <cp:lastModifiedBy>SUPRAMANIAM Minanatha Sivan</cp:lastModifiedBy>
  <cp:revision>5</cp:revision>
  <dcterms:created xsi:type="dcterms:W3CDTF">2025-11-12T04:24:39Z</dcterms:created>
  <dcterms:modified xsi:type="dcterms:W3CDTF">2026-08-10T05:39:18Z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0x0101001C1AAB701C25844B9F6DB71F4614CA6D</vt:lpwstr>
  </property>
  <property fmtid="{D5CDD505-2E9C-101B-9397-08002B2CF9AE}" pid="3" name="MediaServiceImageTags">
    <vt:lpwstr/>
  </property>
  <property fmtid="{D5CDD505-2E9C-101B-9397-08002B2CF9AE}" pid="4" name="MSIP_Label_f6da7a7f-a0d1-4c79-8194-be76ed2514ae_Enabled">
    <vt:lpwstr>true</vt:lpwstr>
  </property>
  <property fmtid="{D5CDD505-2E9C-101B-9397-08002B2CF9AE}" pid="5" name="MSIP_Label_f6da7a7f-a0d1-4c79-8194-be76ed2514ae_SetDate">
    <vt:lpwstr>2026-04-20T03:29:00Z</vt:lpwstr>
  </property>
  <property fmtid="{D5CDD505-2E9C-101B-9397-08002B2CF9AE}" pid="6" name="MSIP_Label_f6da7a7f-a0d1-4c79-8194-be76ed2514ae_Method">
    <vt:lpwstr>Privileged</vt:lpwstr>
  </property>
  <property fmtid="{D5CDD505-2E9C-101B-9397-08002B2CF9AE}" pid="7" name="MSIP_Label_f6da7a7f-a0d1-4c79-8194-be76ed2514ae_Name">
    <vt:lpwstr>INTERNAL</vt:lpwstr>
  </property>
  <property fmtid="{D5CDD505-2E9C-101B-9397-08002B2CF9AE}" pid="8" name="MSIP_Label_f6da7a7f-a0d1-4c79-8194-be76ed2514ae_SiteId">
    <vt:lpwstr>396b38cc-aa65-492b-bb0e-3d94ed25a97b</vt:lpwstr>
  </property>
  <property fmtid="{D5CDD505-2E9C-101B-9397-08002B2CF9AE}" pid="9" name="MSIP_Label_f6da7a7f-a0d1-4c79-8194-be76ed2514ae_ActionId">
    <vt:lpwstr>8d22ec46-2d29-47d7-9e77-74aebe0c7e7a</vt:lpwstr>
  </property>
  <property fmtid="{D5CDD505-2E9C-101B-9397-08002B2CF9AE}" pid="10" name="MSIP_Label_f6da7a7f-a0d1-4c79-8194-be76ed2514ae_ContentBits">
    <vt:lpwstr>2</vt:lpwstr>
  </property>
  <property fmtid="{D5CDD505-2E9C-101B-9397-08002B2CF9AE}" pid="11" name="MSIP_Label_f6da7a7f-a0d1-4c79-8194-be76ed2514ae_Tag">
    <vt:lpwstr>10, 0, 1, 1</vt:lpwstr>
  </property>
  <property fmtid="{D5CDD505-2E9C-101B-9397-08002B2CF9AE}" pid="12" name="ClassificationContentMarkingFooterLocations">
    <vt:lpwstr>Office Theme:8\1_Office Theme:8</vt:lpwstr>
  </property>
  <property fmtid="{D5CDD505-2E9C-101B-9397-08002B2CF9AE}" pid="13" name="ClassificationContentMarkingFooterText">
    <vt:lpwstr>Internal</vt:lpwstr>
  </property>
</Properties>
</file>